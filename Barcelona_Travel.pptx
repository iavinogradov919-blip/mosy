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48640"/>
            <a:ext cx="1097280" cy="1097280"/>
          </a:xfrm>
          <a:prstGeom prst="ellipse">
            <a:avLst/>
          </a:prstGeom>
          <a:solidFill>
            <a:srgbClr val="E1A140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777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ПУТЕШЕСТВИЕ  ·  ГИД ПО ГОРОДУ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BARCELONA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1097280" y="3977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2A4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 Día en la Capital Catalana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97280" y="4800600"/>
            <a:ext cx="365760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983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Шесть мест, которые делают город </a:t>
            </a:r>
            <a:pPr indent="0" marL="0">
              <a:buNone/>
            </a:pPr>
            <a:r>
              <a:rPr lang="en-US" sz="1800" b="1" i="1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незабываемым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8520000">
            <a:off x="9780121" y="5836273"/>
            <a:ext cx="240101" cy="240101"/>
          </a:xfrm>
          <a:prstGeom prst="rect">
            <a:avLst/>
          </a:prstGeom>
          <a:solidFill>
            <a:srgbClr val="8C7A5B"/>
          </a:solidFill>
          <a:ln/>
        </p:spPr>
      </p:sp>
      <p:sp>
        <p:nvSpPr>
          <p:cNvPr id="11" name="Shape 9"/>
          <p:cNvSpPr/>
          <p:nvPr/>
        </p:nvSpPr>
        <p:spPr>
          <a:xfrm rot="11520000">
            <a:off x="10694364" y="6104765"/>
            <a:ext cx="214509" cy="214509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12" name="Shape 10"/>
          <p:cNvSpPr/>
          <p:nvPr/>
        </p:nvSpPr>
        <p:spPr>
          <a:xfrm rot="5100000">
            <a:off x="8895679" y="5960154"/>
            <a:ext cx="141844" cy="141844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13" name="Shape 11"/>
          <p:cNvSpPr/>
          <p:nvPr/>
        </p:nvSpPr>
        <p:spPr>
          <a:xfrm rot="5580000">
            <a:off x="9455622" y="5878840"/>
            <a:ext cx="194698" cy="194698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14" name="Shape 12"/>
          <p:cNvSpPr/>
          <p:nvPr/>
        </p:nvSpPr>
        <p:spPr>
          <a:xfrm rot="12720000">
            <a:off x="10129216" y="5969350"/>
            <a:ext cx="161875" cy="161875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15" name="Shape 13"/>
          <p:cNvSpPr/>
          <p:nvPr/>
        </p:nvSpPr>
        <p:spPr>
          <a:xfrm rot="18660000">
            <a:off x="11267305" y="5943165"/>
            <a:ext cx="273615" cy="273615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16" name="Shape 14"/>
          <p:cNvSpPr/>
          <p:nvPr/>
        </p:nvSpPr>
        <p:spPr>
          <a:xfrm rot="11820000">
            <a:off x="11218453" y="6185239"/>
            <a:ext cx="131978" cy="131978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17" name="Shape 15"/>
          <p:cNvSpPr/>
          <p:nvPr/>
        </p:nvSpPr>
        <p:spPr>
          <a:xfrm rot="12480000">
            <a:off x="11438838" y="6209061"/>
            <a:ext cx="136921" cy="136921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10249951" y="5909825"/>
            <a:ext cx="197716" cy="197716"/>
          </a:xfrm>
          <a:prstGeom prst="rect">
            <a:avLst/>
          </a:prstGeom>
          <a:solidFill>
            <a:srgbClr val="8C7A5B"/>
          </a:solidFill>
          <a:ln/>
        </p:spPr>
      </p:sp>
      <p:sp>
        <p:nvSpPr>
          <p:cNvPr id="19" name="Shape 17"/>
          <p:cNvSpPr/>
          <p:nvPr/>
        </p:nvSpPr>
        <p:spPr>
          <a:xfrm rot="4140000">
            <a:off x="10270483" y="6107081"/>
            <a:ext cx="248428" cy="248428"/>
          </a:xfrm>
          <a:prstGeom prst="rect">
            <a:avLst/>
          </a:prstGeom>
          <a:solidFill>
            <a:srgbClr val="8C7A5B"/>
          </a:solidFill>
          <a:ln/>
        </p:spPr>
      </p:sp>
      <p:sp>
        <p:nvSpPr>
          <p:cNvPr id="20" name="Shape 18"/>
          <p:cNvSpPr/>
          <p:nvPr/>
        </p:nvSpPr>
        <p:spPr>
          <a:xfrm rot="14820000">
            <a:off x="10731274" y="5968347"/>
            <a:ext cx="178153" cy="178153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21" name="Shape 19"/>
          <p:cNvSpPr/>
          <p:nvPr/>
        </p:nvSpPr>
        <p:spPr>
          <a:xfrm rot="19440000">
            <a:off x="10215346" y="5945700"/>
            <a:ext cx="194392" cy="194392"/>
          </a:xfrm>
          <a:prstGeom prst="rect">
            <a:avLst/>
          </a:prstGeom>
          <a:solidFill>
            <a:srgbClr val="8C7A5B"/>
          </a:solidFill>
          <a:ln/>
        </p:spPr>
      </p:sp>
      <p:sp>
        <p:nvSpPr>
          <p:cNvPr id="22" name="Shape 20"/>
          <p:cNvSpPr/>
          <p:nvPr/>
        </p:nvSpPr>
        <p:spPr>
          <a:xfrm rot="21360000">
            <a:off x="9463434" y="5835383"/>
            <a:ext cx="197876" cy="197876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23" name="Shape 21"/>
          <p:cNvSpPr/>
          <p:nvPr/>
        </p:nvSpPr>
        <p:spPr>
          <a:xfrm rot="3060000">
            <a:off x="10914952" y="6183156"/>
            <a:ext cx="194818" cy="194818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24" name="Shape 22"/>
          <p:cNvSpPr/>
          <p:nvPr/>
        </p:nvSpPr>
        <p:spPr>
          <a:xfrm rot="20340000">
            <a:off x="8697235" y="5842696"/>
            <a:ext cx="273689" cy="273689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25" name="Shape 23"/>
          <p:cNvSpPr/>
          <p:nvPr/>
        </p:nvSpPr>
        <p:spPr>
          <a:xfrm rot="1500000">
            <a:off x="9702534" y="5907222"/>
            <a:ext cx="257073" cy="257073"/>
          </a:xfrm>
          <a:prstGeom prst="rect">
            <a:avLst/>
          </a:prstGeom>
          <a:solidFill>
            <a:srgbClr val="8C7A5B"/>
          </a:solidFill>
          <a:ln/>
        </p:spPr>
      </p:sp>
      <p:sp>
        <p:nvSpPr>
          <p:cNvPr id="26" name="Shape 24"/>
          <p:cNvSpPr/>
          <p:nvPr/>
        </p:nvSpPr>
        <p:spPr>
          <a:xfrm rot="19320000">
            <a:off x="9363103" y="6082771"/>
            <a:ext cx="152940" cy="15294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27" name="Shape 25"/>
          <p:cNvSpPr/>
          <p:nvPr/>
        </p:nvSpPr>
        <p:spPr>
          <a:xfrm rot="14340000">
            <a:off x="10789318" y="5968157"/>
            <a:ext cx="161777" cy="161777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28" name="Shape 26"/>
          <p:cNvSpPr/>
          <p:nvPr/>
        </p:nvSpPr>
        <p:spPr>
          <a:xfrm rot="2460000">
            <a:off x="9738009" y="5978317"/>
            <a:ext cx="196454" cy="196454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29" name="Shape 27"/>
          <p:cNvSpPr/>
          <p:nvPr/>
        </p:nvSpPr>
        <p:spPr>
          <a:xfrm rot="10320000">
            <a:off x="10919539" y="6132420"/>
            <a:ext cx="159803" cy="159803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30" name="Shape 28"/>
          <p:cNvSpPr/>
          <p:nvPr/>
        </p:nvSpPr>
        <p:spPr>
          <a:xfrm rot="20400000">
            <a:off x="9251968" y="6156598"/>
            <a:ext cx="143186" cy="143186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31" name="Shape 29"/>
          <p:cNvSpPr/>
          <p:nvPr/>
        </p:nvSpPr>
        <p:spPr>
          <a:xfrm rot="18120000">
            <a:off x="9585693" y="6156059"/>
            <a:ext cx="178309" cy="178309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32" name="Shape 30"/>
          <p:cNvSpPr/>
          <p:nvPr/>
        </p:nvSpPr>
        <p:spPr>
          <a:xfrm rot="2400000">
            <a:off x="10423209" y="5995405"/>
            <a:ext cx="168840" cy="16884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33" name="Shape 31"/>
          <p:cNvSpPr/>
          <p:nvPr/>
        </p:nvSpPr>
        <p:spPr>
          <a:xfrm rot="900000">
            <a:off x="9748706" y="6004542"/>
            <a:ext cx="229917" cy="229917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34" name="Shape 32"/>
          <p:cNvSpPr/>
          <p:nvPr/>
        </p:nvSpPr>
        <p:spPr>
          <a:xfrm rot="17880000">
            <a:off x="10265587" y="6133841"/>
            <a:ext cx="251340" cy="251340"/>
          </a:xfrm>
          <a:prstGeom prst="rect">
            <a:avLst/>
          </a:prstGeom>
          <a:solidFill>
            <a:srgbClr val="8C7A5B"/>
          </a:solidFill>
          <a:ln/>
        </p:spPr>
      </p:sp>
      <p:sp>
        <p:nvSpPr>
          <p:cNvPr id="35" name="Shape 33"/>
          <p:cNvSpPr/>
          <p:nvPr/>
        </p:nvSpPr>
        <p:spPr>
          <a:xfrm rot="16440000">
            <a:off x="10457232" y="5772947"/>
            <a:ext cx="211032" cy="211032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36" name="Shape 34"/>
          <p:cNvSpPr/>
          <p:nvPr/>
        </p:nvSpPr>
        <p:spPr>
          <a:xfrm rot="6540000">
            <a:off x="10646006" y="6182014"/>
            <a:ext cx="159277" cy="159277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37" name="Shape 35"/>
          <p:cNvSpPr/>
          <p:nvPr/>
        </p:nvSpPr>
        <p:spPr>
          <a:xfrm rot="4440000">
            <a:off x="9563390" y="5931495"/>
            <a:ext cx="143837" cy="143837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38" name="Shape 36"/>
          <p:cNvSpPr/>
          <p:nvPr/>
        </p:nvSpPr>
        <p:spPr>
          <a:xfrm rot="6480000">
            <a:off x="8757632" y="5831891"/>
            <a:ext cx="267553" cy="267553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39" name="Shape 37"/>
          <p:cNvSpPr/>
          <p:nvPr/>
        </p:nvSpPr>
        <p:spPr>
          <a:xfrm rot="1860000">
            <a:off x="9448972" y="5866770"/>
            <a:ext cx="218482" cy="218482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40" name="Text 38"/>
          <p:cNvSpPr/>
          <p:nvPr/>
        </p:nvSpPr>
        <p:spPr>
          <a:xfrm>
            <a:off x="10972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ГОТОВЫЙ МАРШРУТ  ·  PRACTICAL TIPS  ·  6 ICONIC SPOTS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CONTENIDOS  ·  СОДЕРЖАНИЕ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Маршрут на день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4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Six neighborhoods, one unforgettable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060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645920" y="2651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Sagrada Família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3108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Шедевр Гауди в строительстве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34290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EIXAMPLE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26060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498080" y="2651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Park Güell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98080" y="3108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Мозаичный сад на холме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34290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GRÀCIA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1645920" y="4023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Casa Batlló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4480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Дом-дракон на Passeig de Gràcia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48006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EIXAMPLE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3977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7498080" y="4023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Gothic Quarter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98080" y="4480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Средневековые улочки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48006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CIUTAT VELLA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53492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1645920" y="5394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Boqueria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45920" y="5852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Главный рынок города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45920" y="61722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RAVAL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53492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7498080" y="5394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Barceloneta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98080" y="5852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Пляж и закаты у моря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61722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BARCELONETA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5943600" cy="5486400"/>
          </a:xfrm>
          <a:prstGeom prst="rect">
            <a:avLst/>
          </a:prstGeom>
          <a:solidFill>
            <a:srgbClr val="E8DCC4"/>
          </a:solidFill>
          <a:ln w="12700">
            <a:solidFill>
              <a:srgbClr val="C8B68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548640"/>
            <a:ext cx="5943600" cy="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6035040"/>
            <a:ext cx="5943600" cy="-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445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ФОТО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3291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Фасад Рождества с башнями, утренний свет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548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868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Sagrada Família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4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Шедевр Гауди в работе с 1882 года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834640"/>
            <a:ext cx="137160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0175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Самый знаменитый собор Барселоны и единственный, который до сих пор строится. Антонио Гауди работал над ним 43 года и похоронен в крипте под зданием.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Внутри — лес из колонн-деревьев и витражи, превращающие стены в калейдоскоп. Свет утром идёт через синие и зелёные стёкла со стороны Рождества, вечером — через красные и золотые со стороны Страстей.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Достроить храм планируют к 2026 году — к 100-летию смерти архитектора.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937760"/>
            <a:ext cx="5212080" cy="1097280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4937760"/>
            <a:ext cx="73152" cy="109728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7512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26 €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9056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9056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9:00–18:00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90600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1.5 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548640"/>
            <a:ext cx="5943600" cy="5486400"/>
          </a:xfrm>
          <a:prstGeom prst="rect">
            <a:avLst/>
          </a:prstGeom>
          <a:solidFill>
            <a:srgbClr val="E8DCC4"/>
          </a:solidFill>
          <a:ln w="12700">
            <a:solidFill>
              <a:srgbClr val="C8B68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00800" y="548640"/>
            <a:ext cx="5943600" cy="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400800" y="6035040"/>
            <a:ext cx="5943600" cy="-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445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ФОТО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0" y="3291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Мозаичная скамья и панорама Барселоны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48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GRÀCIA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Park Güell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4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Парк-сказка с мозаичной саламандрой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37160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Изначально Гауди задумывал жилой квартал для богатой буржуазии — затея провалилась, и теперь это парк. Здесь — знаменитая саламандра El Drac, волнистая мозаичная скамья и колоннада Hipóstila.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верхней террасы открывается лучший панорамный вид на город: от Tibidabo до моря, с Sagrada Família ровно посередине.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платную «монументальную зону» вход по таймслотам — бронировать заранее обязательно.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212080" cy="1097280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937760"/>
            <a:ext cx="73152" cy="109728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18 €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3840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МЕТРО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3840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Lesseps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5384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ЛУЧШЕ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5384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На закате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5943600" cy="5486400"/>
          </a:xfrm>
          <a:prstGeom prst="rect">
            <a:avLst/>
          </a:prstGeom>
          <a:solidFill>
            <a:srgbClr val="E8DCC4"/>
          </a:solidFill>
          <a:ln w="12700">
            <a:solidFill>
              <a:srgbClr val="C8B68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548640"/>
            <a:ext cx="5943600" cy="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6035040"/>
            <a:ext cx="5943600" cy="-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445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ФОТО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3291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Фасад Casa Batlló с балконами-черепами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548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868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Casa Batlló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4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«Дом костей» на Passeig de Gràcia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834640"/>
            <a:ext cx="137160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0175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Жилой дом, перестроенный Гауди в 1904–1906 годах для семьи текстильного магната Жозепа Батльо. Каталонцы прозвали его Casa dels Ossos — «Дом из костей»: балконы похожи на черепа, колонны — на берцовые кости.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Крыша — это спина дракона, которого пронзает копьё Святого Жоржа, покровителя Каталонии. Внутренний дворик облицован плиткой, темнеющей сверху вниз — Гауди добивался равномерного освещения этажей.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Рядом — Casa Milà («La Pedrera»), ещё один шедевр Гауди в десяти минутах пешком.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937760"/>
            <a:ext cx="5212080" cy="1097280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4937760"/>
            <a:ext cx="73152" cy="109728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7512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от 29 €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9056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МЕТРО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9056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Passeig de Gràcia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90600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 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548640"/>
            <a:ext cx="5943600" cy="5486400"/>
          </a:xfrm>
          <a:prstGeom prst="rect">
            <a:avLst/>
          </a:prstGeom>
          <a:solidFill>
            <a:srgbClr val="E8DCC4"/>
          </a:solidFill>
          <a:ln w="12700">
            <a:solidFill>
              <a:srgbClr val="C8B68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00800" y="548640"/>
            <a:ext cx="5943600" cy="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400800" y="6035040"/>
            <a:ext cx="5943600" cy="-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445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ФОТО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0" y="3291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Узкая улочка Готического квартала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48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CIUTAT VELLA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Barri Gòtic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4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Готический квартал — сердце старого города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37160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Лабиринт узких улиц между Рамблас и Виа Лаетана. Здесь стоит готический собор Святого Креста (XIII–XV вв.), сохранились римские стены и средневековые еврейские кварталы El Call.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Главные площади — Plaça Reial с пальмами и фонарями работы юного Гауди и Plaça del Rei, где, по легенде, Колумба принимали Фердинанд и Изабелла после возвращения из Америки.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отличие от современного Эшампле, тут нет правильной сетки — заблудиться приятно и неизбежно.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212080" cy="1097280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937760"/>
            <a:ext cx="73152" cy="109728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Бесплатно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3840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ЛУЧШЕ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3840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Утро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5384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СТИЛЬ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5384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Готика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5943600" cy="5486400"/>
          </a:xfrm>
          <a:prstGeom prst="rect">
            <a:avLst/>
          </a:prstGeom>
          <a:solidFill>
            <a:srgbClr val="E8DCC4"/>
          </a:solidFill>
          <a:ln w="12700">
            <a:solidFill>
              <a:srgbClr val="C8B68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548640"/>
            <a:ext cx="5943600" cy="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6035040"/>
            <a:ext cx="5943600" cy="-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445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ФОТО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3291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Прилавок с хамоном и оливками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548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RAVAL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868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Boqueria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4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Главный рынок Барселоны с 1217 года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834640"/>
            <a:ext cx="137160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0175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Mercat de Sant Josep de la Boqueria — рынок с восьмисотлетней историей, открытый прямо на Рамблас. Под чугунным навесом 1840 года — больше 200 прилавков с хамоном, морепродуктами, фруктами и тапасами.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Лучше приходить голодным к 11:00 — обязательные пробы: pa amb tomàquet (хлеб с томатом), iberico (хамон), и стакан кавы (каталонское игристое).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Лучшие bar-стойки — у дальнего входа, не у фасада: там меньше туристов и свежее цены.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937760"/>
            <a:ext cx="5212080" cy="1097280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4937760"/>
            <a:ext cx="73152" cy="109728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7512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Бесплатно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9056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9056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8:00–20:30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ЗАКРЫТ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90600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Воскресенье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548640"/>
            <a:ext cx="5943600" cy="5486400"/>
          </a:xfrm>
          <a:prstGeom prst="rect">
            <a:avLst/>
          </a:prstGeom>
          <a:solidFill>
            <a:srgbClr val="E8DCC4"/>
          </a:solidFill>
          <a:ln w="12700">
            <a:solidFill>
              <a:srgbClr val="C8B68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00800" y="548640"/>
            <a:ext cx="5943600" cy="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400800" y="6035040"/>
            <a:ext cx="5943600" cy="-5486400"/>
          </a:xfrm>
          <a:prstGeom prst="line">
            <a:avLst/>
          </a:prstGeom>
          <a:noFill/>
          <a:ln w="12700">
            <a:solidFill>
              <a:srgbClr val="C8B68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445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ФОТО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0" y="3291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Пляж Barceloneta на закате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48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Barceloneta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4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Старый рыбацкий квартал у моря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37160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Бывшая рыбацкая слобода XVIII века, разлинованная узкими улочками-параллелями. Сейчас — самый живой пляжный район города с парадом баров, паэлий и сёрфингистов.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пляжу выходит набережная Passeig Marítim длиной 4 км — идеально для вечерней пробежки или велопроката. На горизонте — гигантский золотой Peix Фрэнка Гери, «Рыба» с Олимпийских игр 1992 года.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Закатные тапас в chiringuito на песке — лучший финал дня.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212080" cy="1097280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937760"/>
            <a:ext cx="73152" cy="109728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Бесплатно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3840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МЕТРО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3840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Barceloneta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53840" y="5074920"/>
            <a:ext cx="161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ЛУЧШЕ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53840" y="5349240"/>
            <a:ext cx="161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Закат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0" kern="0" dirty="0">
                <a:solidFill>
                  <a:srgbClr val="C445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 ·  ПРАКТИЧЕСКАЯ ИНФОРМАЦИЯ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Полезно знать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4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Если едете впервые.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6588" y="2606040"/>
            <a:ext cx="2651760" cy="3383280"/>
          </a:xfrm>
          <a:prstGeom prst="rect">
            <a:avLst/>
          </a:prstGeom>
          <a:solidFill>
            <a:srgbClr val="E8DCC4"/>
          </a:solidFill>
          <a:ln/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6588" y="2606040"/>
            <a:ext cx="2651760" cy="109728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8" name="Text 6"/>
          <p:cNvSpPr/>
          <p:nvPr/>
        </p:nvSpPr>
        <p:spPr>
          <a:xfrm>
            <a:off x="860908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i="1" dirty="0">
                <a:solidFill>
                  <a:srgbClr val="C445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→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60908" y="3977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Когда ехать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0908" y="4572000"/>
            <a:ext cx="54864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0908" y="47091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Лучшие месяцы — апрель–июнь и сентябрь–октябрь. Июль–август жарко и переполнено; зимой мягко (12–15 °C), но море уже холодное.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5508" y="2606040"/>
            <a:ext cx="2651760" cy="3383280"/>
          </a:xfrm>
          <a:prstGeom prst="rect">
            <a:avLst/>
          </a:prstGeom>
          <a:solidFill>
            <a:srgbClr val="E8DCC4"/>
          </a:solidFill>
          <a:ln/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5508" y="2606040"/>
            <a:ext cx="2651760" cy="109728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14" name="Text 12"/>
          <p:cNvSpPr/>
          <p:nvPr/>
        </p:nvSpPr>
        <p:spPr>
          <a:xfrm>
            <a:off x="3649828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i="1" dirty="0">
                <a:solidFill>
                  <a:srgbClr val="E1A1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3649828" y="3977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Деньги и оплата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49828" y="4572000"/>
            <a:ext cx="54864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9828" y="47091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Евро. Безналичные платежи везде, кроме мелких баров. Турналог €4 / ночь в отеле. Чаевые — 5–10 % если без service charge.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64428" y="2606040"/>
            <a:ext cx="2651760" cy="3383280"/>
          </a:xfrm>
          <a:prstGeom prst="rect">
            <a:avLst/>
          </a:prstGeom>
          <a:solidFill>
            <a:srgbClr val="E8DCC4"/>
          </a:solidFill>
          <a:ln/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4428" y="2606040"/>
            <a:ext cx="2651760" cy="109728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38748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i="1" dirty="0">
                <a:solidFill>
                  <a:srgbClr val="2A4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6438748" y="3977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Транспорт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38748" y="4572000"/>
            <a:ext cx="54864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8748" y="47091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Метро 11 линий, T-casual на 10 поездок — €12.55. Из аэропорта El Prat в центр — Aerobús €7,25 или метро L9 Sud €5,70.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53348" y="2606040"/>
            <a:ext cx="2651760" cy="3383280"/>
          </a:xfrm>
          <a:prstGeom prst="rect">
            <a:avLst/>
          </a:prstGeom>
          <a:solidFill>
            <a:srgbClr val="E8DCC4"/>
          </a:solidFill>
          <a:ln/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53348" y="2606040"/>
            <a:ext cx="2651760" cy="109728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26" name="Text 24"/>
          <p:cNvSpPr/>
          <p:nvPr/>
        </p:nvSpPr>
        <p:spPr>
          <a:xfrm>
            <a:off x="9227668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i="1" dirty="0">
                <a:solidFill>
                  <a:srgbClr val="C445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!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9227668" y="3977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Безопасность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27668" y="4572000"/>
            <a:ext cx="548640" cy="0"/>
          </a:xfrm>
          <a:prstGeom prst="line">
            <a:avLst/>
          </a:prstGeom>
          <a:noFill/>
          <a:ln w="12700">
            <a:solidFill>
              <a:srgbClr val="C445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27668" y="47091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Карманники в метро, на Рамблас и у Sagrada Família. Рюкзак держите спереди в толпе. Скорая — 112, туристическая полиция — у Plaça Catalunya.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080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445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¡Bon viatge!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 rot="8820000">
            <a:off x="6088494" y="6243180"/>
            <a:ext cx="176014" cy="176014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32" name="Shape 30"/>
          <p:cNvSpPr/>
          <p:nvPr/>
        </p:nvSpPr>
        <p:spPr>
          <a:xfrm rot="12720000">
            <a:off x="5613444" y="6266267"/>
            <a:ext cx="135401" cy="135401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33" name="Shape 31"/>
          <p:cNvSpPr/>
          <p:nvPr/>
        </p:nvSpPr>
        <p:spPr>
          <a:xfrm rot="7080000">
            <a:off x="7371014" y="6274289"/>
            <a:ext cx="111801" cy="111801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34" name="Shape 32"/>
          <p:cNvSpPr/>
          <p:nvPr/>
        </p:nvSpPr>
        <p:spPr>
          <a:xfrm rot="8040000">
            <a:off x="5180694" y="6244796"/>
            <a:ext cx="188656" cy="188656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35" name="Shape 33"/>
          <p:cNvSpPr/>
          <p:nvPr/>
        </p:nvSpPr>
        <p:spPr>
          <a:xfrm rot="16620000">
            <a:off x="6858606" y="6177179"/>
            <a:ext cx="242016" cy="242016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36" name="Shape 34"/>
          <p:cNvSpPr/>
          <p:nvPr/>
        </p:nvSpPr>
        <p:spPr>
          <a:xfrm rot="10140000">
            <a:off x="6300925" y="6087456"/>
            <a:ext cx="155398" cy="155398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37" name="Shape 35"/>
          <p:cNvSpPr/>
          <p:nvPr/>
        </p:nvSpPr>
        <p:spPr>
          <a:xfrm rot="1920000">
            <a:off x="9370986" y="6175155"/>
            <a:ext cx="134235" cy="134235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38" name="Shape 36"/>
          <p:cNvSpPr/>
          <p:nvPr/>
        </p:nvSpPr>
        <p:spPr>
          <a:xfrm rot="8640000">
            <a:off x="8154793" y="6205832"/>
            <a:ext cx="239106" cy="23910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39" name="Shape 37"/>
          <p:cNvSpPr/>
          <p:nvPr/>
        </p:nvSpPr>
        <p:spPr>
          <a:xfrm rot="4260000">
            <a:off x="5420690" y="6109042"/>
            <a:ext cx="124486" cy="12448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0" name="Shape 38"/>
          <p:cNvSpPr/>
          <p:nvPr/>
        </p:nvSpPr>
        <p:spPr>
          <a:xfrm rot="15900000">
            <a:off x="7450939" y="6109051"/>
            <a:ext cx="185984" cy="185984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1" name="Shape 39"/>
          <p:cNvSpPr/>
          <p:nvPr/>
        </p:nvSpPr>
        <p:spPr>
          <a:xfrm rot="6120000">
            <a:off x="10021511" y="6159799"/>
            <a:ext cx="218518" cy="218518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42" name="Shape 40"/>
          <p:cNvSpPr/>
          <p:nvPr/>
        </p:nvSpPr>
        <p:spPr>
          <a:xfrm rot="13200000">
            <a:off x="7776085" y="6116993"/>
            <a:ext cx="237640" cy="237640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43" name="Shape 41"/>
          <p:cNvSpPr/>
          <p:nvPr/>
        </p:nvSpPr>
        <p:spPr>
          <a:xfrm rot="7440000">
            <a:off x="9897876" y="6168621"/>
            <a:ext cx="172211" cy="172211"/>
          </a:xfrm>
          <a:prstGeom prst="rect">
            <a:avLst/>
          </a:prstGeom>
          <a:solidFill>
            <a:srgbClr val="8C7A5B"/>
          </a:solidFill>
          <a:ln/>
        </p:spPr>
      </p:sp>
      <p:sp>
        <p:nvSpPr>
          <p:cNvPr id="44" name="Shape 42"/>
          <p:cNvSpPr/>
          <p:nvPr/>
        </p:nvSpPr>
        <p:spPr>
          <a:xfrm rot="18840000">
            <a:off x="10282126" y="6086225"/>
            <a:ext cx="237461" cy="237461"/>
          </a:xfrm>
          <a:prstGeom prst="rect">
            <a:avLst/>
          </a:prstGeom>
          <a:solidFill>
            <a:srgbClr val="8C7A5B"/>
          </a:solidFill>
          <a:ln/>
        </p:spPr>
      </p:sp>
      <p:sp>
        <p:nvSpPr>
          <p:cNvPr id="45" name="Shape 43"/>
          <p:cNvSpPr/>
          <p:nvPr/>
        </p:nvSpPr>
        <p:spPr>
          <a:xfrm rot="15120000">
            <a:off x="9056025" y="6091823"/>
            <a:ext cx="233064" cy="233064"/>
          </a:xfrm>
          <a:prstGeom prst="rect">
            <a:avLst/>
          </a:prstGeom>
          <a:solidFill>
            <a:srgbClr val="E1A140"/>
          </a:solidFill>
          <a:ln/>
        </p:spPr>
      </p:sp>
      <p:sp>
        <p:nvSpPr>
          <p:cNvPr id="46" name="Shape 44"/>
          <p:cNvSpPr/>
          <p:nvPr/>
        </p:nvSpPr>
        <p:spPr>
          <a:xfrm rot="4140000">
            <a:off x="9688083" y="6094219"/>
            <a:ext cx="245980" cy="245980"/>
          </a:xfrm>
          <a:prstGeom prst="rect">
            <a:avLst/>
          </a:prstGeom>
          <a:solidFill>
            <a:srgbClr val="8C7A5B"/>
          </a:solidFill>
          <a:ln/>
        </p:spPr>
      </p:sp>
      <p:sp>
        <p:nvSpPr>
          <p:cNvPr id="47" name="Shape 45"/>
          <p:cNvSpPr/>
          <p:nvPr/>
        </p:nvSpPr>
        <p:spPr>
          <a:xfrm rot="3420000">
            <a:off x="5697319" y="6183766"/>
            <a:ext cx="229133" cy="229133"/>
          </a:xfrm>
          <a:prstGeom prst="rect">
            <a:avLst/>
          </a:prstGeom>
          <a:solidFill>
            <a:srgbClr val="8C7A5B"/>
          </a:solidFill>
          <a:ln/>
        </p:spPr>
      </p:sp>
      <p:sp>
        <p:nvSpPr>
          <p:cNvPr id="48" name="Shape 46"/>
          <p:cNvSpPr/>
          <p:nvPr/>
        </p:nvSpPr>
        <p:spPr>
          <a:xfrm rot="20400000">
            <a:off x="6348112" y="6189137"/>
            <a:ext cx="213536" cy="21353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9" name="Shape 47"/>
          <p:cNvSpPr/>
          <p:nvPr/>
        </p:nvSpPr>
        <p:spPr>
          <a:xfrm rot="14580000">
            <a:off x="8375481" y="6247805"/>
            <a:ext cx="125060" cy="125060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50" name="Shape 48"/>
          <p:cNvSpPr/>
          <p:nvPr/>
        </p:nvSpPr>
        <p:spPr>
          <a:xfrm rot="8400000">
            <a:off x="6066868" y="6093826"/>
            <a:ext cx="273367" cy="273367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51" name="Shape 49"/>
          <p:cNvSpPr/>
          <p:nvPr/>
        </p:nvSpPr>
        <p:spPr>
          <a:xfrm rot="11280000">
            <a:off x="5367929" y="6097972"/>
            <a:ext cx="156495" cy="156495"/>
          </a:xfrm>
          <a:prstGeom prst="rect">
            <a:avLst/>
          </a:prstGeom>
          <a:solidFill>
            <a:srgbClr val="2A4A5C"/>
          </a:solidFill>
          <a:ln/>
        </p:spPr>
      </p:sp>
      <p:sp>
        <p:nvSpPr>
          <p:cNvPr id="52" name="Shape 50"/>
          <p:cNvSpPr/>
          <p:nvPr/>
        </p:nvSpPr>
        <p:spPr>
          <a:xfrm rot="13140000">
            <a:off x="6227396" y="6203759"/>
            <a:ext cx="150542" cy="150542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53" name="Text 5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09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800" kern="0" dirty="0">
                <a:solidFill>
                  <a:srgbClr val="8C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Путешествие по Барселоне</dc:title>
  <dc:subject>PptxGenJS Presentation</dc:subject>
  <dc:creator>Travel Guide</dc:creator>
  <cp:lastModifiedBy>Travel Guide</cp:lastModifiedBy>
  <cp:revision>1</cp:revision>
  <dcterms:created xsi:type="dcterms:W3CDTF">2026-05-28T22:01:54Z</dcterms:created>
  <dcterms:modified xsi:type="dcterms:W3CDTF">2026-05-28T22:01:54Z</dcterms:modified>
</cp:coreProperties>
</file>